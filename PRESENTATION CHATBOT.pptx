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60" r:id="rId2"/>
    <p:sldId id="262" r:id="rId3"/>
    <p:sldId id="261" r:id="rId4"/>
    <p:sldId id="263" r:id="rId5"/>
    <p:sldId id="264" r:id="rId6"/>
    <p:sldId id="265" r:id="rId7"/>
    <p:sldId id="266" r:id="rId8"/>
    <p:sldId id="267" r:id="rId9"/>
    <p:sldId id="268" r:id="rId10"/>
    <p:sldId id="269" r:id="rId11"/>
    <p:sldId id="270"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F934E7-BE88-49E7-94FE-130090AFF6B3}" type="datetimeFigureOut">
              <a:rPr lang="fr-FR" smtClean="0"/>
              <a:t>01/12/2025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9B9348-CC18-4B3F-BD1C-43DC4FC33BF6}" type="slidenum">
              <a:rPr lang="fr-FR" smtClean="0"/>
              <a:t>‹N°›</a:t>
            </a:fld>
            <a:endParaRPr lang="fr-FR"/>
          </a:p>
        </p:txBody>
      </p:sp>
    </p:spTree>
    <p:extLst>
      <p:ext uri="{BB962C8B-B14F-4D97-AF65-F5344CB8AC3E}">
        <p14:creationId xmlns:p14="http://schemas.microsoft.com/office/powerpoint/2010/main" val="2762740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fr-FR"/>
              <a:t>Modifiez le style du titre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B29D576D-DBB8-42D4-A360-80A152F3B814}" type="datetime1">
              <a:rPr lang="en-US" smtClean="0"/>
              <a:t>12/1/2025</a:t>
            </a:fld>
            <a:endParaRPr lang="en-US" dirty="0"/>
          </a:p>
        </p:txBody>
      </p:sp>
      <p:sp>
        <p:nvSpPr>
          <p:cNvPr id="5" name="Footer Placeholder 4"/>
          <p:cNvSpPr>
            <a:spLocks noGrp="1"/>
          </p:cNvSpPr>
          <p:nvPr>
            <p:ph type="ftr" sz="quarter" idx="11"/>
          </p:nvPr>
        </p:nvSpPr>
        <p:spPr>
          <a:xfrm>
            <a:off x="1371600" y="4323845"/>
            <a:ext cx="6400800" cy="365125"/>
          </a:xfrm>
        </p:spPr>
        <p:txBody>
          <a:bodyPr/>
          <a:lstStyle/>
          <a:p>
            <a:endParaRPr lang="en-US" dirty="0"/>
          </a:p>
        </p:txBody>
      </p:sp>
      <p:sp>
        <p:nvSpPr>
          <p:cNvPr id="6" name="Slide Number Placeholder 5"/>
          <p:cNvSpPr>
            <a:spLocks noGrp="1"/>
          </p:cNvSpPr>
          <p:nvPr>
            <p:ph type="sldNum" sz="quarter" idx="12"/>
          </p:nvPr>
        </p:nvSpPr>
        <p:spPr>
          <a:xfrm>
            <a:off x="8077200" y="1430866"/>
            <a:ext cx="2743200"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9D06BD26-B5FE-46A8-82A3-576255A636EB}"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fr-FR"/>
              <a:t>Modifiez le style du titre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6D9F15BB-8E94-42A2-A417-7A2C17BE4957}" type="datetime1">
              <a:rPr lang="en-US" smtClean="0"/>
              <a:t>12/1/2025</a:t>
            </a:fld>
            <a:endParaRPr lang="en-US" dirty="0"/>
          </a:p>
        </p:txBody>
      </p:sp>
      <p:sp>
        <p:nvSpPr>
          <p:cNvPr id="5" name="Footer Placeholder 4"/>
          <p:cNvSpPr>
            <a:spLocks noGrp="1"/>
          </p:cNvSpPr>
          <p:nvPr>
            <p:ph type="ftr" sz="quarter" idx="11"/>
          </p:nvPr>
        </p:nvSpPr>
        <p:spPr>
          <a:xfrm>
            <a:off x="685800" y="381001"/>
            <a:ext cx="6991492" cy="36406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384FC53D-BFB1-42BF-9797-93F4835A6BC8}" type="datetime1">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fr-FR"/>
              <a:t>Modifiez le style du titre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85800" y="3132666"/>
            <a:ext cx="5311775" cy="308601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0" y="3132666"/>
            <a:ext cx="5334000" cy="3086019"/>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30EB274E-066C-41E5-B64B-5425778C81B2}" type="datetime1">
              <a:rPr lang="en-US" smtClean="0"/>
              <a:t>12/1/2025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2444835F-7C35-4DDC-81D8-A342DC4AF7E3}" type="datetime1">
              <a:rPr lang="en-US" smtClean="0"/>
              <a:t>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9F7908-DADF-4097-8126-11A4CA46F000}" type="datetime1">
              <a:rPr lang="en-US" smtClean="0"/>
              <a:t>12/1/2025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fr-FR"/>
              <a:t>Modifiez le style du titre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8FD78187-B9B8-4712-AFE9-0E2E6A33E942}" type="datetime1">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011693D9-AE6C-49C1-90BB-F48D83C5505D}" type="datetime1">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 panoramiqu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78F7BBD-B99A-4C13-8165-AEC5F80CD438}" type="datetime1">
              <a:rPr lang="en-US" smtClean="0"/>
              <a:t>12/1/2025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re et légend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57832762-0933-4BD4-B837-6EE247D7CDE7}" type="datetime1">
              <a:rPr lang="en-US" smtClean="0"/>
              <a:t>12/1/2025</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tion avec légende">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fr-FR"/>
              <a:t>Modifiez le style du titre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E142B5D5-8867-4723-BA6E-5F06858E5D82}" type="datetime1">
              <a:rPr lang="en-US" smtClean="0"/>
              <a:t>12/1/2025</a:t>
            </a:fld>
            <a:endParaRPr lang="en-US" dirty="0"/>
          </a:p>
        </p:txBody>
      </p:sp>
      <p:sp>
        <p:nvSpPr>
          <p:cNvPr id="6" name="Footer Placeholder 5"/>
          <p:cNvSpPr>
            <a:spLocks noGrp="1"/>
          </p:cNvSpPr>
          <p:nvPr>
            <p:ph type="ftr" sz="quarter" idx="11"/>
          </p:nvPr>
        </p:nvSpPr>
        <p:spPr>
          <a:xfrm>
            <a:off x="685800" y="379941"/>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arte nom">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fr-FR"/>
              <a:t>Modifiez le style du titre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1E608CC3-87DD-4C45-B7AA-D537F903FC35}" type="datetime1">
              <a:rPr lang="en-US" smtClean="0"/>
              <a:t>12/1/2025</a:t>
            </a:fld>
            <a:endParaRPr lang="en-US" dirty="0"/>
          </a:p>
        </p:txBody>
      </p:sp>
      <p:sp>
        <p:nvSpPr>
          <p:cNvPr id="6" name="Footer Placeholder 5"/>
          <p:cNvSpPr>
            <a:spLocks noGrp="1"/>
          </p:cNvSpPr>
          <p:nvPr>
            <p:ph type="ftr" sz="quarter" idx="11"/>
          </p:nvPr>
        </p:nvSpPr>
        <p:spPr>
          <a:xfrm>
            <a:off x="685800" y="378883"/>
            <a:ext cx="6991492" cy="365125"/>
          </a:xfrm>
        </p:spPr>
        <p:txBody>
          <a:bodyPr/>
          <a:lstStyle/>
          <a:p>
            <a:endParaRPr lang="en-US" dirty="0"/>
          </a:p>
        </p:txBody>
      </p:sp>
      <p:sp>
        <p:nvSpPr>
          <p:cNvPr id="7" name="Slide Number Placeholder 6"/>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s">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fr-FR"/>
              <a:t>Modifiez le style du titre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13578E62-8F67-40D2-8F04-621204CBFF86}" type="datetime1">
              <a:rPr lang="en-US" smtClean="0"/>
              <a:t>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s d’image">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fr-FR"/>
              <a:t>Modifiez le style du titre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3" name="Date Placeholder 2"/>
          <p:cNvSpPr>
            <a:spLocks noGrp="1"/>
          </p:cNvSpPr>
          <p:nvPr>
            <p:ph type="dt" sz="half" idx="10"/>
          </p:nvPr>
        </p:nvSpPr>
        <p:spPr/>
        <p:txBody>
          <a:bodyPr/>
          <a:lstStyle/>
          <a:p>
            <a:fld id="{C2932769-38E9-4865-A65F-79338E123692}" type="datetime1">
              <a:rPr lang="en-US" smtClean="0"/>
              <a:t>12/1/2025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895F7B2-21A1-4BA2-BA3B-5C6A409E7B57}" type="datetime1">
              <a:rPr lang="en-US" smtClean="0"/>
              <a:t>12/1/2025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‹N°›</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fr-FR"/>
              <a:t>Modifiez le style du titre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C79B5B89-7B5E-44EA-B0A5-54D1B53463E6}" type="datetime1">
              <a:rPr lang="en-US" smtClean="0"/>
              <a:t>12/1/2025</a:t>
            </a:fld>
            <a:endParaRPr lang="en-US" dirty="0"/>
          </a:p>
        </p:txBody>
      </p:sp>
      <p:sp>
        <p:nvSpPr>
          <p:cNvPr id="5" name="Footer Placeholder 4"/>
          <p:cNvSpPr>
            <a:spLocks noGrp="1"/>
          </p:cNvSpPr>
          <p:nvPr>
            <p:ph type="ftr" sz="quarter" idx="11"/>
          </p:nvPr>
        </p:nvSpPr>
        <p:spPr>
          <a:xfrm>
            <a:off x="685800" y="381000"/>
            <a:ext cx="6991492" cy="365125"/>
          </a:xfrm>
        </p:spPr>
        <p:txBody>
          <a:bodyPr/>
          <a:lstStyle/>
          <a:p>
            <a:endParaRPr lang="en-US" dirty="0"/>
          </a:p>
        </p:txBody>
      </p:sp>
      <p:sp>
        <p:nvSpPr>
          <p:cNvPr id="6" name="Slide Number Placeholder 5"/>
          <p:cNvSpPr>
            <a:spLocks noGrp="1"/>
          </p:cNvSpPr>
          <p:nvPr>
            <p:ph type="sldNum" sz="quarter" idx="12"/>
          </p:nvPr>
        </p:nvSpPr>
        <p:spPr>
          <a:xfrm>
            <a:off x="10862452" y="381000"/>
            <a:ext cx="643748" cy="365125"/>
          </a:xfrm>
        </p:spPr>
        <p:txBody>
          <a:bodyPr/>
          <a:lstStyle/>
          <a:p>
            <a:fld id="{6D22F896-40B5-4ADD-8801-0D06FADFA095}" type="slidenum">
              <a:rPr lang="en-US" dirty="0"/>
              <a:t>‹N°›</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76BA128-5FBC-4869-B507-9A82E0F8016F}" type="datetime1">
              <a:rPr lang="en-US" smtClean="0"/>
              <a:t>12/1/2025</a:t>
            </a:fld>
            <a:endParaRPr lang="en-US" dirty="0"/>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‹N°›</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hdr="0" ftr="0" dt="0"/>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loukmanesavage/ProjetChatBank.git" TargetMode="External"/><Relationship Id="rId2" Type="http://schemas.openxmlformats.org/officeDocument/2006/relationships/image" Target="../media/image3.jpg"/><Relationship Id="rId1" Type="http://schemas.openxmlformats.org/officeDocument/2006/relationships/slideLayout" Target="../slideLayouts/slideLayout8.xml"/><Relationship Id="rId4"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CD69C9-FE77-5549-7AB4-449B16AFFC2E}"/>
              </a:ext>
            </a:extLst>
          </p:cNvPr>
          <p:cNvSpPr>
            <a:spLocks noGrp="1"/>
          </p:cNvSpPr>
          <p:nvPr>
            <p:ph type="title"/>
          </p:nvPr>
        </p:nvSpPr>
        <p:spPr>
          <a:xfrm>
            <a:off x="91912" y="0"/>
            <a:ext cx="8816418" cy="1600200"/>
          </a:xfrm>
        </p:spPr>
        <p:txBody>
          <a:bodyPr>
            <a:normAutofit/>
          </a:bodyPr>
          <a:lstStyle/>
          <a:p>
            <a:r>
              <a:rPr lang="fr-FR" dirty="0"/>
              <a:t>CHATBOT DE SUPPORT CLIENT POUR LES SERVICES BANCAIRE</a:t>
            </a:r>
          </a:p>
        </p:txBody>
      </p:sp>
      <p:pic>
        <p:nvPicPr>
          <p:cNvPr id="5" name="Espace réservé du contenu 4">
            <a:extLst>
              <a:ext uri="{FF2B5EF4-FFF2-40B4-BE49-F238E27FC236}">
                <a16:creationId xmlns:a16="http://schemas.microsoft.com/office/drawing/2014/main" id="{13D538D6-618D-8FC5-9D79-2E826C9B7092}"/>
              </a:ext>
            </a:extLst>
          </p:cNvPr>
          <p:cNvPicPr>
            <a:picLocks noGrp="1" noChangeAspect="1"/>
          </p:cNvPicPr>
          <p:nvPr>
            <p:ph idx="1"/>
          </p:nvPr>
        </p:nvPicPr>
        <p:blipFill>
          <a:blip r:embed="rId2"/>
          <a:stretch>
            <a:fillRect/>
          </a:stretch>
        </p:blipFill>
        <p:spPr>
          <a:xfrm>
            <a:off x="7940511" y="1225484"/>
            <a:ext cx="4251489" cy="4172621"/>
          </a:xfrm>
        </p:spPr>
      </p:pic>
      <p:sp>
        <p:nvSpPr>
          <p:cNvPr id="8" name="Espace réservé du texte 7">
            <a:extLst>
              <a:ext uri="{FF2B5EF4-FFF2-40B4-BE49-F238E27FC236}">
                <a16:creationId xmlns:a16="http://schemas.microsoft.com/office/drawing/2014/main" id="{D1FE0B0E-1908-297E-DE27-E9A110AB6F80}"/>
              </a:ext>
            </a:extLst>
          </p:cNvPr>
          <p:cNvSpPr>
            <a:spLocks noGrp="1"/>
          </p:cNvSpPr>
          <p:nvPr>
            <p:ph type="body" sz="half" idx="2"/>
          </p:nvPr>
        </p:nvSpPr>
        <p:spPr>
          <a:xfrm>
            <a:off x="685799" y="3124199"/>
            <a:ext cx="6902777" cy="3606539"/>
          </a:xfrm>
        </p:spPr>
        <p:txBody>
          <a:bodyPr>
            <a:normAutofit fontScale="85000" lnSpcReduction="20000"/>
          </a:bodyPr>
          <a:lstStyle/>
          <a:p>
            <a:endParaRPr lang="fr-FR" dirty="0"/>
          </a:p>
          <a:p>
            <a:endParaRPr lang="fr-FR" dirty="0"/>
          </a:p>
          <a:p>
            <a:endParaRPr lang="fr-FR" dirty="0"/>
          </a:p>
          <a:p>
            <a:endParaRPr lang="fr-FR" dirty="0"/>
          </a:p>
          <a:p>
            <a:endParaRPr lang="fr-FR" dirty="0"/>
          </a:p>
          <a:p>
            <a:endParaRPr lang="fr-FR" dirty="0"/>
          </a:p>
          <a:p>
            <a:endParaRPr lang="fr-FR" dirty="0"/>
          </a:p>
          <a:p>
            <a:r>
              <a:rPr lang="fr-FR" sz="2400" dirty="0"/>
              <a:t>BADINI LOUKOUMANE</a:t>
            </a:r>
          </a:p>
          <a:p>
            <a:r>
              <a:rPr lang="fr-FR" sz="2400" dirty="0"/>
              <a:t>Enseignant : OUEDRAOGO W. A. MARC CHRISTIAN</a:t>
            </a:r>
          </a:p>
          <a:p>
            <a:r>
              <a:rPr lang="fr-FR" sz="2400" dirty="0"/>
              <a:t>Lien GitHub: </a:t>
            </a:r>
            <a:r>
              <a:rPr lang="fr-FR" sz="2400" dirty="0">
                <a:hlinkClick r:id="rId3"/>
              </a:rPr>
              <a:t>https://github.com/loukmanesavage/ProjetChatBank.git</a:t>
            </a:r>
            <a:endParaRPr lang="fr-FR" sz="2400" dirty="0"/>
          </a:p>
        </p:txBody>
      </p:sp>
      <p:pic>
        <p:nvPicPr>
          <p:cNvPr id="7" name="Image 6">
            <a:extLst>
              <a:ext uri="{FF2B5EF4-FFF2-40B4-BE49-F238E27FC236}">
                <a16:creationId xmlns:a16="http://schemas.microsoft.com/office/drawing/2014/main" id="{43DE2E08-1B89-BD6E-322D-137432A9281F}"/>
              </a:ext>
            </a:extLst>
          </p:cNvPr>
          <p:cNvPicPr>
            <a:picLocks noChangeAspect="1"/>
          </p:cNvPicPr>
          <p:nvPr/>
        </p:nvPicPr>
        <p:blipFill>
          <a:blip r:embed="rId4"/>
          <a:stretch>
            <a:fillRect/>
          </a:stretch>
        </p:blipFill>
        <p:spPr>
          <a:xfrm>
            <a:off x="7940511" y="5467546"/>
            <a:ext cx="4251489" cy="1390454"/>
          </a:xfrm>
          <a:prstGeom prst="rect">
            <a:avLst/>
          </a:prstGeom>
        </p:spPr>
      </p:pic>
      <p:sp>
        <p:nvSpPr>
          <p:cNvPr id="9" name="Espace réservé du numéro de diapositive 8">
            <a:extLst>
              <a:ext uri="{FF2B5EF4-FFF2-40B4-BE49-F238E27FC236}">
                <a16:creationId xmlns:a16="http://schemas.microsoft.com/office/drawing/2014/main" id="{0017E3D8-D7ED-0285-9F31-492DB267A6FE}"/>
              </a:ext>
            </a:extLst>
          </p:cNvPr>
          <p:cNvSpPr>
            <a:spLocks noGrp="1"/>
          </p:cNvSpPr>
          <p:nvPr>
            <p:ph type="sldNum" sz="quarter" idx="12"/>
          </p:nvPr>
        </p:nvSpPr>
        <p:spPr/>
        <p:txBody>
          <a:bodyPr/>
          <a:lstStyle/>
          <a:p>
            <a:fld id="{6D22F896-40B5-4ADD-8801-0D06FADFA095}" type="slidenum">
              <a:rPr lang="en-US" smtClean="0"/>
              <a:t>1</a:t>
            </a:fld>
            <a:endParaRPr lang="en-US" dirty="0"/>
          </a:p>
        </p:txBody>
      </p:sp>
    </p:spTree>
    <p:extLst>
      <p:ext uri="{BB962C8B-B14F-4D97-AF65-F5344CB8AC3E}">
        <p14:creationId xmlns:p14="http://schemas.microsoft.com/office/powerpoint/2010/main" val="16458400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re 7">
            <a:extLst>
              <a:ext uri="{FF2B5EF4-FFF2-40B4-BE49-F238E27FC236}">
                <a16:creationId xmlns:a16="http://schemas.microsoft.com/office/drawing/2014/main" id="{3C33DBE0-747B-13B9-8864-47FF328D8F75}"/>
              </a:ext>
            </a:extLst>
          </p:cNvPr>
          <p:cNvSpPr>
            <a:spLocks noGrp="1"/>
          </p:cNvSpPr>
          <p:nvPr>
            <p:ph type="title"/>
          </p:nvPr>
        </p:nvSpPr>
        <p:spPr>
          <a:xfrm>
            <a:off x="685800" y="746125"/>
            <a:ext cx="8610600" cy="1293028"/>
          </a:xfrm>
        </p:spPr>
        <p:txBody>
          <a:bodyPr/>
          <a:lstStyle/>
          <a:p>
            <a:pPr algn="ctr"/>
            <a:r>
              <a:rPr lang="fr-FR" dirty="0"/>
              <a:t>INTRODUCTION</a:t>
            </a:r>
          </a:p>
        </p:txBody>
      </p:sp>
      <p:sp>
        <p:nvSpPr>
          <p:cNvPr id="9" name="Espace réservé du contenu 8">
            <a:extLst>
              <a:ext uri="{FF2B5EF4-FFF2-40B4-BE49-F238E27FC236}">
                <a16:creationId xmlns:a16="http://schemas.microsoft.com/office/drawing/2014/main" id="{9CEEAA44-C8DF-8F2F-06A4-0D015BC4211E}"/>
              </a:ext>
            </a:extLst>
          </p:cNvPr>
          <p:cNvSpPr>
            <a:spLocks noGrp="1"/>
          </p:cNvSpPr>
          <p:nvPr>
            <p:ph idx="1"/>
          </p:nvPr>
        </p:nvSpPr>
        <p:spPr/>
        <p:txBody>
          <a:bodyPr/>
          <a:lstStyle/>
          <a:p>
            <a:pPr marL="0" indent="0">
              <a:buNone/>
            </a:pPr>
            <a:endParaRPr lang="fr-FR" dirty="0"/>
          </a:p>
          <a:p>
            <a:pPr marL="0" indent="0">
              <a:buNone/>
            </a:pPr>
            <a:endParaRPr lang="fr-FR" dirty="0"/>
          </a:p>
          <a:p>
            <a:pPr marL="0" indent="0">
              <a:buNone/>
            </a:pPr>
            <a:r>
              <a:rPr lang="fr-FR" dirty="0"/>
              <a:t>     Ce projet vise à développer un Chatbot de support clients capable de répondre automatiquement aux questions courantes des clients et fournir des informations sur les services bancaires. Ce Chatbot permettra aussi au client d’avoir une assistance avec un conseiller pour certains taches plus complexe.</a:t>
            </a:r>
          </a:p>
          <a:p>
            <a:pPr marL="0" indent="0">
              <a:buNone/>
            </a:pPr>
            <a:r>
              <a:rPr lang="fr-FR" dirty="0"/>
              <a:t>Pour la conception nous avons opter pour un ensemble de d’outil et de technologies pour arrivée a ce produit.</a:t>
            </a:r>
          </a:p>
          <a:p>
            <a:pPr marL="0" indent="0">
              <a:buNone/>
            </a:pPr>
            <a:endParaRPr lang="fr-FR" dirty="0"/>
          </a:p>
        </p:txBody>
      </p:sp>
      <p:sp>
        <p:nvSpPr>
          <p:cNvPr id="5" name="Espace réservé du numéro de diapositive 4">
            <a:extLst>
              <a:ext uri="{FF2B5EF4-FFF2-40B4-BE49-F238E27FC236}">
                <a16:creationId xmlns:a16="http://schemas.microsoft.com/office/drawing/2014/main" id="{9CD0EEEF-0AC5-C24A-AA17-07C007EE0DB2}"/>
              </a:ext>
            </a:extLst>
          </p:cNvPr>
          <p:cNvSpPr>
            <a:spLocks noGrp="1"/>
          </p:cNvSpPr>
          <p:nvPr>
            <p:ph type="sldNum" sz="quarter" idx="12"/>
          </p:nvPr>
        </p:nvSpPr>
        <p:spPr/>
        <p:txBody>
          <a:bodyPr/>
          <a:lstStyle/>
          <a:p>
            <a:fld id="{6D22F896-40B5-4ADD-8801-0D06FADFA095}" type="slidenum">
              <a:rPr lang="en-US" smtClean="0"/>
              <a:t>2</a:t>
            </a:fld>
            <a:endParaRPr lang="en-US" dirty="0"/>
          </a:p>
        </p:txBody>
      </p:sp>
    </p:spTree>
    <p:extLst>
      <p:ext uri="{BB962C8B-B14F-4D97-AF65-F5344CB8AC3E}">
        <p14:creationId xmlns:p14="http://schemas.microsoft.com/office/powerpoint/2010/main" val="221100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re 10">
            <a:extLst>
              <a:ext uri="{FF2B5EF4-FFF2-40B4-BE49-F238E27FC236}">
                <a16:creationId xmlns:a16="http://schemas.microsoft.com/office/drawing/2014/main" id="{B2DAFA04-CFC2-932E-B6A4-41634BCB7295}"/>
              </a:ext>
            </a:extLst>
          </p:cNvPr>
          <p:cNvSpPr>
            <a:spLocks noGrp="1"/>
          </p:cNvSpPr>
          <p:nvPr>
            <p:ph type="title"/>
          </p:nvPr>
        </p:nvSpPr>
        <p:spPr>
          <a:xfrm>
            <a:off x="595460" y="815809"/>
            <a:ext cx="8610600" cy="1293028"/>
          </a:xfrm>
        </p:spPr>
        <p:txBody>
          <a:bodyPr/>
          <a:lstStyle/>
          <a:p>
            <a:r>
              <a:rPr lang="fr-FR" dirty="0"/>
              <a:t>Présentation de mon chatbot </a:t>
            </a:r>
          </a:p>
        </p:txBody>
      </p:sp>
      <p:sp>
        <p:nvSpPr>
          <p:cNvPr id="12" name="Espace réservé du contenu 11">
            <a:extLst>
              <a:ext uri="{FF2B5EF4-FFF2-40B4-BE49-F238E27FC236}">
                <a16:creationId xmlns:a16="http://schemas.microsoft.com/office/drawing/2014/main" id="{12CBEFB4-BC11-3412-93C0-6DE988FBAC7A}"/>
              </a:ext>
            </a:extLst>
          </p:cNvPr>
          <p:cNvSpPr>
            <a:spLocks noGrp="1"/>
          </p:cNvSpPr>
          <p:nvPr>
            <p:ph idx="1"/>
          </p:nvPr>
        </p:nvSpPr>
        <p:spPr/>
        <p:txBody>
          <a:bodyPr/>
          <a:lstStyle/>
          <a:p>
            <a:pPr marL="0" indent="0">
              <a:buNone/>
            </a:pPr>
            <a:endParaRPr lang="fr-FR" dirty="0"/>
          </a:p>
          <a:p>
            <a:pPr marL="0" indent="0">
              <a:buNone/>
            </a:pPr>
            <a:r>
              <a:rPr lang="fr-FR" dirty="0"/>
              <a:t>Les fonctionnalités clés du chatbot sont entre autres:</a:t>
            </a:r>
          </a:p>
          <a:p>
            <a:r>
              <a:rPr lang="fr-FR" dirty="0"/>
              <a:t>Compréhension et traitement des requêtes en langage naturel(NLP)</a:t>
            </a:r>
          </a:p>
          <a:p>
            <a:r>
              <a:rPr lang="fr-FR" dirty="0"/>
              <a:t>Réponses automatiques aux questions fréquemment posé(FAQ)</a:t>
            </a:r>
          </a:p>
          <a:p>
            <a:r>
              <a:rPr lang="fr-FR" dirty="0"/>
              <a:t>Gestion des requêtes liées aux transaction bancaire, solde de compte et cartes bancaires</a:t>
            </a:r>
          </a:p>
          <a:p>
            <a:r>
              <a:rPr lang="fr-FR" dirty="0"/>
              <a:t>Détection de fraudes potentielles basé sur les interactions des utilisateurs</a:t>
            </a:r>
          </a:p>
          <a:p>
            <a:r>
              <a:rPr lang="fr-FR" dirty="0"/>
              <a:t>Escalade des cas complexes vers un conseiller humains </a:t>
            </a:r>
          </a:p>
          <a:p>
            <a:endParaRPr lang="fr-FR" dirty="0"/>
          </a:p>
        </p:txBody>
      </p:sp>
      <p:sp>
        <p:nvSpPr>
          <p:cNvPr id="5" name="Espace réservé du numéro de diapositive 4">
            <a:extLst>
              <a:ext uri="{FF2B5EF4-FFF2-40B4-BE49-F238E27FC236}">
                <a16:creationId xmlns:a16="http://schemas.microsoft.com/office/drawing/2014/main" id="{D7EC8B5A-8A5E-1908-65A1-DD5CF052EB37}"/>
              </a:ext>
            </a:extLst>
          </p:cNvPr>
          <p:cNvSpPr>
            <a:spLocks noGrp="1"/>
          </p:cNvSpPr>
          <p:nvPr>
            <p:ph type="sldNum" sz="quarter" idx="12"/>
          </p:nvPr>
        </p:nvSpPr>
        <p:spPr/>
        <p:txBody>
          <a:bodyPr/>
          <a:lstStyle/>
          <a:p>
            <a:fld id="{6D22F896-40B5-4ADD-8801-0D06FADFA095}" type="slidenum">
              <a:rPr lang="en-US" smtClean="0"/>
              <a:t>3</a:t>
            </a:fld>
            <a:endParaRPr lang="en-US" dirty="0"/>
          </a:p>
        </p:txBody>
      </p:sp>
    </p:spTree>
    <p:extLst>
      <p:ext uri="{BB962C8B-B14F-4D97-AF65-F5344CB8AC3E}">
        <p14:creationId xmlns:p14="http://schemas.microsoft.com/office/powerpoint/2010/main" val="3474630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F34DCF9-0354-EA01-FCB8-1ABC5ECBFC00}"/>
              </a:ext>
            </a:extLst>
          </p:cNvPr>
          <p:cNvSpPr>
            <a:spLocks noGrp="1"/>
          </p:cNvSpPr>
          <p:nvPr>
            <p:ph type="title"/>
          </p:nvPr>
        </p:nvSpPr>
        <p:spPr>
          <a:xfrm>
            <a:off x="685799" y="823828"/>
            <a:ext cx="10820399" cy="1293028"/>
          </a:xfrm>
        </p:spPr>
        <p:txBody>
          <a:bodyPr/>
          <a:lstStyle/>
          <a:p>
            <a:pPr algn="ctr"/>
            <a:r>
              <a:rPr lang="fr-FR" dirty="0"/>
              <a:t>CHOIX Méthodologiques</a:t>
            </a:r>
          </a:p>
        </p:txBody>
      </p:sp>
      <p:sp>
        <p:nvSpPr>
          <p:cNvPr id="3" name="Espace réservé du contenu 2">
            <a:extLst>
              <a:ext uri="{FF2B5EF4-FFF2-40B4-BE49-F238E27FC236}">
                <a16:creationId xmlns:a16="http://schemas.microsoft.com/office/drawing/2014/main" id="{C29C16BC-D02E-E453-D21B-B33E2A65A7F2}"/>
              </a:ext>
            </a:extLst>
          </p:cNvPr>
          <p:cNvSpPr>
            <a:spLocks noGrp="1"/>
          </p:cNvSpPr>
          <p:nvPr>
            <p:ph idx="1"/>
          </p:nvPr>
        </p:nvSpPr>
        <p:spPr/>
        <p:txBody>
          <a:bodyPr/>
          <a:lstStyle/>
          <a:p>
            <a:pPr marL="0" indent="0">
              <a:buNone/>
            </a:pPr>
            <a:endParaRPr lang="fr-FR" dirty="0"/>
          </a:p>
          <a:p>
            <a:pPr marL="0" indent="0">
              <a:buNone/>
            </a:pPr>
            <a:endParaRPr lang="fr-FR" dirty="0"/>
          </a:p>
          <a:p>
            <a:pPr marL="0" indent="0">
              <a:buNone/>
            </a:pPr>
            <a:r>
              <a:rPr lang="fr-FR" dirty="0"/>
              <a:t>Pour ce projet nous avons utilisé un ensemble de technologie:</a:t>
            </a:r>
          </a:p>
          <a:p>
            <a:r>
              <a:rPr lang="fr-FR" dirty="0"/>
              <a:t>Backend : Flask(python)</a:t>
            </a:r>
          </a:p>
          <a:p>
            <a:r>
              <a:rPr lang="fr-FR" dirty="0"/>
              <a:t>Frontend : HTLM/CSS mais aussi un peu de Bootstrap</a:t>
            </a:r>
          </a:p>
          <a:p>
            <a:r>
              <a:rPr lang="fr-FR" dirty="0"/>
              <a:t>NLP : Spacy pour la compréhension du langage</a:t>
            </a:r>
          </a:p>
          <a:p>
            <a:r>
              <a:rPr lang="fr-FR" dirty="0"/>
              <a:t>Base de données : PostgreSQL pour stocker les échanges des utilisateurs</a:t>
            </a:r>
          </a:p>
        </p:txBody>
      </p:sp>
      <p:sp>
        <p:nvSpPr>
          <p:cNvPr id="4" name="Espace réservé du numéro de diapositive 3">
            <a:extLst>
              <a:ext uri="{FF2B5EF4-FFF2-40B4-BE49-F238E27FC236}">
                <a16:creationId xmlns:a16="http://schemas.microsoft.com/office/drawing/2014/main" id="{932B573C-A381-AB93-33CD-33B4537AA09F}"/>
              </a:ext>
            </a:extLst>
          </p:cNvPr>
          <p:cNvSpPr>
            <a:spLocks noGrp="1"/>
          </p:cNvSpPr>
          <p:nvPr>
            <p:ph type="sldNum" sz="quarter" idx="12"/>
          </p:nvPr>
        </p:nvSpPr>
        <p:spPr/>
        <p:txBody>
          <a:bodyPr/>
          <a:lstStyle/>
          <a:p>
            <a:fld id="{6D22F896-40B5-4ADD-8801-0D06FADFA095}" type="slidenum">
              <a:rPr lang="en-US" smtClean="0"/>
              <a:t>4</a:t>
            </a:fld>
            <a:endParaRPr lang="en-US" dirty="0"/>
          </a:p>
        </p:txBody>
      </p:sp>
    </p:spTree>
    <p:extLst>
      <p:ext uri="{BB962C8B-B14F-4D97-AF65-F5344CB8AC3E}">
        <p14:creationId xmlns:p14="http://schemas.microsoft.com/office/powerpoint/2010/main" val="9317468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7860069-CE98-88A1-F1FD-91E8F9FA80A0}"/>
              </a:ext>
            </a:extLst>
          </p:cNvPr>
          <p:cNvSpPr>
            <a:spLocks noGrp="1"/>
          </p:cNvSpPr>
          <p:nvPr>
            <p:ph type="title"/>
          </p:nvPr>
        </p:nvSpPr>
        <p:spPr>
          <a:xfrm>
            <a:off x="685799" y="823828"/>
            <a:ext cx="10820401" cy="1293028"/>
          </a:xfrm>
        </p:spPr>
        <p:txBody>
          <a:bodyPr/>
          <a:lstStyle/>
          <a:p>
            <a:pPr algn="ctr"/>
            <a:r>
              <a:rPr lang="fr-FR" dirty="0"/>
              <a:t>Présentation page d’accueil</a:t>
            </a:r>
          </a:p>
        </p:txBody>
      </p:sp>
      <p:pic>
        <p:nvPicPr>
          <p:cNvPr id="6" name="Espace réservé du contenu 5">
            <a:extLst>
              <a:ext uri="{FF2B5EF4-FFF2-40B4-BE49-F238E27FC236}">
                <a16:creationId xmlns:a16="http://schemas.microsoft.com/office/drawing/2014/main" id="{E9EDF64D-52C8-AB7C-E173-1F555B65C536}"/>
              </a:ext>
            </a:extLst>
          </p:cNvPr>
          <p:cNvPicPr>
            <a:picLocks noGrp="1" noChangeAspect="1"/>
          </p:cNvPicPr>
          <p:nvPr>
            <p:ph idx="1"/>
          </p:nvPr>
        </p:nvPicPr>
        <p:blipFill>
          <a:blip r:embed="rId2"/>
          <a:stretch>
            <a:fillRect/>
          </a:stretch>
        </p:blipFill>
        <p:spPr>
          <a:xfrm>
            <a:off x="2052724" y="2193925"/>
            <a:ext cx="8086551" cy="4024313"/>
          </a:xfrm>
        </p:spPr>
      </p:pic>
      <p:sp>
        <p:nvSpPr>
          <p:cNvPr id="4" name="Espace réservé du numéro de diapositive 3">
            <a:extLst>
              <a:ext uri="{FF2B5EF4-FFF2-40B4-BE49-F238E27FC236}">
                <a16:creationId xmlns:a16="http://schemas.microsoft.com/office/drawing/2014/main" id="{2C05D941-9A20-8704-4895-F5A11B4E3EF4}"/>
              </a:ext>
            </a:extLst>
          </p:cNvPr>
          <p:cNvSpPr>
            <a:spLocks noGrp="1"/>
          </p:cNvSpPr>
          <p:nvPr>
            <p:ph type="sldNum" sz="quarter" idx="12"/>
          </p:nvPr>
        </p:nvSpPr>
        <p:spPr/>
        <p:txBody>
          <a:bodyPr/>
          <a:lstStyle/>
          <a:p>
            <a:fld id="{6D22F896-40B5-4ADD-8801-0D06FADFA095}" type="slidenum">
              <a:rPr lang="en-US" smtClean="0"/>
              <a:t>5</a:t>
            </a:fld>
            <a:endParaRPr lang="en-US" dirty="0"/>
          </a:p>
        </p:txBody>
      </p:sp>
    </p:spTree>
    <p:extLst>
      <p:ext uri="{BB962C8B-B14F-4D97-AF65-F5344CB8AC3E}">
        <p14:creationId xmlns:p14="http://schemas.microsoft.com/office/powerpoint/2010/main" val="29779064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80214D-262D-C299-015D-ECFFE5915712}"/>
              </a:ext>
            </a:extLst>
          </p:cNvPr>
          <p:cNvSpPr>
            <a:spLocks noGrp="1"/>
          </p:cNvSpPr>
          <p:nvPr>
            <p:ph type="title"/>
          </p:nvPr>
        </p:nvSpPr>
        <p:spPr>
          <a:xfrm>
            <a:off x="685800" y="764373"/>
            <a:ext cx="10820400" cy="1293028"/>
          </a:xfrm>
        </p:spPr>
        <p:txBody>
          <a:bodyPr/>
          <a:lstStyle/>
          <a:p>
            <a:pPr algn="ctr"/>
            <a:r>
              <a:rPr lang="fr-FR" dirty="0"/>
              <a:t>Quelques discussions avec le chatbot</a:t>
            </a:r>
          </a:p>
        </p:txBody>
      </p:sp>
      <p:pic>
        <p:nvPicPr>
          <p:cNvPr id="6" name="Espace réservé du contenu 5">
            <a:extLst>
              <a:ext uri="{FF2B5EF4-FFF2-40B4-BE49-F238E27FC236}">
                <a16:creationId xmlns:a16="http://schemas.microsoft.com/office/drawing/2014/main" id="{0F863D8B-740E-3FEF-D53E-43379F274013}"/>
              </a:ext>
            </a:extLst>
          </p:cNvPr>
          <p:cNvPicPr>
            <a:picLocks noGrp="1" noChangeAspect="1"/>
          </p:cNvPicPr>
          <p:nvPr>
            <p:ph idx="1"/>
          </p:nvPr>
        </p:nvPicPr>
        <p:blipFill>
          <a:blip r:embed="rId2"/>
          <a:stretch>
            <a:fillRect/>
          </a:stretch>
        </p:blipFill>
        <p:spPr>
          <a:xfrm>
            <a:off x="1263192" y="1960775"/>
            <a:ext cx="9549352" cy="4257463"/>
          </a:xfrm>
        </p:spPr>
      </p:pic>
      <p:sp>
        <p:nvSpPr>
          <p:cNvPr id="4" name="Espace réservé du numéro de diapositive 3">
            <a:extLst>
              <a:ext uri="{FF2B5EF4-FFF2-40B4-BE49-F238E27FC236}">
                <a16:creationId xmlns:a16="http://schemas.microsoft.com/office/drawing/2014/main" id="{F21628B4-5973-5922-AD7D-AD8F6385C134}"/>
              </a:ext>
            </a:extLst>
          </p:cNvPr>
          <p:cNvSpPr>
            <a:spLocks noGrp="1"/>
          </p:cNvSpPr>
          <p:nvPr>
            <p:ph type="sldNum" sz="quarter" idx="12"/>
          </p:nvPr>
        </p:nvSpPr>
        <p:spPr/>
        <p:txBody>
          <a:bodyPr/>
          <a:lstStyle/>
          <a:p>
            <a:fld id="{6D22F896-40B5-4ADD-8801-0D06FADFA095}" type="slidenum">
              <a:rPr lang="en-US" smtClean="0"/>
              <a:t>6</a:t>
            </a:fld>
            <a:endParaRPr lang="en-US" dirty="0"/>
          </a:p>
        </p:txBody>
      </p:sp>
    </p:spTree>
    <p:extLst>
      <p:ext uri="{BB962C8B-B14F-4D97-AF65-F5344CB8AC3E}">
        <p14:creationId xmlns:p14="http://schemas.microsoft.com/office/powerpoint/2010/main" val="3810308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FF58711-08D7-AAA4-F98F-455AAB2A4F33}"/>
              </a:ext>
            </a:extLst>
          </p:cNvPr>
          <p:cNvSpPr>
            <a:spLocks noGrp="1"/>
          </p:cNvSpPr>
          <p:nvPr>
            <p:ph type="title"/>
          </p:nvPr>
        </p:nvSpPr>
        <p:spPr>
          <a:xfrm>
            <a:off x="685800" y="806382"/>
            <a:ext cx="10820400" cy="1293028"/>
          </a:xfrm>
        </p:spPr>
        <p:txBody>
          <a:bodyPr/>
          <a:lstStyle/>
          <a:p>
            <a:pPr algn="ctr"/>
            <a:r>
              <a:rPr lang="fr-FR" dirty="0"/>
              <a:t>PRESENTATION DE LA BASE DE DONNEES POSTGRESQL</a:t>
            </a:r>
          </a:p>
        </p:txBody>
      </p:sp>
      <p:pic>
        <p:nvPicPr>
          <p:cNvPr id="6" name="Espace réservé du contenu 5">
            <a:extLst>
              <a:ext uri="{FF2B5EF4-FFF2-40B4-BE49-F238E27FC236}">
                <a16:creationId xmlns:a16="http://schemas.microsoft.com/office/drawing/2014/main" id="{75995BC5-38CE-66AF-D515-4623AF2AD314}"/>
              </a:ext>
            </a:extLst>
          </p:cNvPr>
          <p:cNvPicPr>
            <a:picLocks noGrp="1" noChangeAspect="1"/>
          </p:cNvPicPr>
          <p:nvPr>
            <p:ph idx="1"/>
          </p:nvPr>
        </p:nvPicPr>
        <p:blipFill>
          <a:blip r:embed="rId2"/>
          <a:stretch>
            <a:fillRect/>
          </a:stretch>
        </p:blipFill>
        <p:spPr>
          <a:xfrm>
            <a:off x="1263192" y="2193925"/>
            <a:ext cx="9747315" cy="4376557"/>
          </a:xfrm>
        </p:spPr>
      </p:pic>
      <p:sp>
        <p:nvSpPr>
          <p:cNvPr id="4" name="Espace réservé du numéro de diapositive 3">
            <a:extLst>
              <a:ext uri="{FF2B5EF4-FFF2-40B4-BE49-F238E27FC236}">
                <a16:creationId xmlns:a16="http://schemas.microsoft.com/office/drawing/2014/main" id="{A90D370D-8ACD-16B1-BBD7-E0D8D3BE16B2}"/>
              </a:ext>
            </a:extLst>
          </p:cNvPr>
          <p:cNvSpPr>
            <a:spLocks noGrp="1"/>
          </p:cNvSpPr>
          <p:nvPr>
            <p:ph type="sldNum" sz="quarter" idx="12"/>
          </p:nvPr>
        </p:nvSpPr>
        <p:spPr/>
        <p:txBody>
          <a:bodyPr/>
          <a:lstStyle/>
          <a:p>
            <a:fld id="{6D22F896-40B5-4ADD-8801-0D06FADFA095}" type="slidenum">
              <a:rPr lang="en-US" smtClean="0"/>
              <a:t>7</a:t>
            </a:fld>
            <a:endParaRPr lang="en-US" dirty="0"/>
          </a:p>
        </p:txBody>
      </p:sp>
    </p:spTree>
    <p:extLst>
      <p:ext uri="{BB962C8B-B14F-4D97-AF65-F5344CB8AC3E}">
        <p14:creationId xmlns:p14="http://schemas.microsoft.com/office/powerpoint/2010/main" val="34120342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927019-A65E-8AD9-25C4-5C6524DC46DA}"/>
              </a:ext>
            </a:extLst>
          </p:cNvPr>
          <p:cNvSpPr>
            <a:spLocks noGrp="1"/>
          </p:cNvSpPr>
          <p:nvPr>
            <p:ph type="title"/>
          </p:nvPr>
        </p:nvSpPr>
        <p:spPr>
          <a:xfrm>
            <a:off x="685800" y="764373"/>
            <a:ext cx="10820400" cy="1293028"/>
          </a:xfrm>
        </p:spPr>
        <p:txBody>
          <a:bodyPr/>
          <a:lstStyle/>
          <a:p>
            <a:pPr algn="ctr"/>
            <a:r>
              <a:rPr lang="fr-FR" dirty="0"/>
              <a:t>RESULTATS</a:t>
            </a:r>
          </a:p>
        </p:txBody>
      </p:sp>
      <p:sp>
        <p:nvSpPr>
          <p:cNvPr id="3" name="Espace réservé du contenu 2">
            <a:extLst>
              <a:ext uri="{FF2B5EF4-FFF2-40B4-BE49-F238E27FC236}">
                <a16:creationId xmlns:a16="http://schemas.microsoft.com/office/drawing/2014/main" id="{B1A8EA94-26C5-CD25-AE6B-E5D559BC1652}"/>
              </a:ext>
            </a:extLst>
          </p:cNvPr>
          <p:cNvSpPr>
            <a:spLocks noGrp="1"/>
          </p:cNvSpPr>
          <p:nvPr>
            <p:ph idx="1"/>
          </p:nvPr>
        </p:nvSpPr>
        <p:spPr/>
        <p:txBody>
          <a:bodyPr/>
          <a:lstStyle/>
          <a:p>
            <a:pPr marL="0" indent="0">
              <a:buNone/>
            </a:pPr>
            <a:endParaRPr lang="fr-FR" dirty="0"/>
          </a:p>
          <a:p>
            <a:pPr marL="0" indent="0">
              <a:buNone/>
            </a:pPr>
            <a:endParaRPr lang="fr-FR" dirty="0"/>
          </a:p>
          <a:p>
            <a:pPr marL="0" indent="0">
              <a:buNone/>
            </a:pPr>
            <a:r>
              <a:rPr lang="fr-FR" dirty="0"/>
              <a:t>Le chatbot a une a montré une bonne capacité à comprendre les requêtes et à répondre de manière cohérente aux questions entrées mais s’il n’a pas pu il va juste diriger l’utilisateur en lui demandant de reformuler sa question ou simplement a lui permettant de rentré en contact avec un conseiller humain. Les faits sont présentés dans les captures d’écran que nous allons ajouter à la fin de notre rapport.</a:t>
            </a:r>
          </a:p>
          <a:p>
            <a:pPr marL="0" indent="0">
              <a:buNone/>
            </a:pPr>
            <a:endParaRPr lang="fr-FR" dirty="0"/>
          </a:p>
        </p:txBody>
      </p:sp>
      <p:sp>
        <p:nvSpPr>
          <p:cNvPr id="4" name="Espace réservé du numéro de diapositive 3">
            <a:extLst>
              <a:ext uri="{FF2B5EF4-FFF2-40B4-BE49-F238E27FC236}">
                <a16:creationId xmlns:a16="http://schemas.microsoft.com/office/drawing/2014/main" id="{EA55B86D-87C0-7A2C-4838-73AEE397EDC8}"/>
              </a:ext>
            </a:extLst>
          </p:cNvPr>
          <p:cNvSpPr>
            <a:spLocks noGrp="1"/>
          </p:cNvSpPr>
          <p:nvPr>
            <p:ph type="sldNum" sz="quarter" idx="12"/>
          </p:nvPr>
        </p:nvSpPr>
        <p:spPr/>
        <p:txBody>
          <a:bodyPr/>
          <a:lstStyle/>
          <a:p>
            <a:fld id="{6D22F896-40B5-4ADD-8801-0D06FADFA095}" type="slidenum">
              <a:rPr lang="en-US" smtClean="0"/>
              <a:t>8</a:t>
            </a:fld>
            <a:endParaRPr lang="en-US" dirty="0"/>
          </a:p>
        </p:txBody>
      </p:sp>
    </p:spTree>
    <p:extLst>
      <p:ext uri="{BB962C8B-B14F-4D97-AF65-F5344CB8AC3E}">
        <p14:creationId xmlns:p14="http://schemas.microsoft.com/office/powerpoint/2010/main" val="6591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E6D891-06F4-887A-9AE1-6BC52720E990}"/>
              </a:ext>
            </a:extLst>
          </p:cNvPr>
          <p:cNvSpPr>
            <a:spLocks noGrp="1"/>
          </p:cNvSpPr>
          <p:nvPr>
            <p:ph type="title"/>
          </p:nvPr>
        </p:nvSpPr>
        <p:spPr>
          <a:xfrm>
            <a:off x="685800" y="764373"/>
            <a:ext cx="10820400" cy="1293028"/>
          </a:xfrm>
        </p:spPr>
        <p:txBody>
          <a:bodyPr/>
          <a:lstStyle/>
          <a:p>
            <a:pPr algn="ctr"/>
            <a:r>
              <a:rPr lang="fr-FR" dirty="0"/>
              <a:t>Perspectives et développement futur</a:t>
            </a:r>
          </a:p>
        </p:txBody>
      </p:sp>
      <p:sp>
        <p:nvSpPr>
          <p:cNvPr id="3" name="Espace réservé du contenu 2">
            <a:extLst>
              <a:ext uri="{FF2B5EF4-FFF2-40B4-BE49-F238E27FC236}">
                <a16:creationId xmlns:a16="http://schemas.microsoft.com/office/drawing/2014/main" id="{665A165A-F70E-934E-47CA-70F48930C564}"/>
              </a:ext>
            </a:extLst>
          </p:cNvPr>
          <p:cNvSpPr>
            <a:spLocks noGrp="1"/>
          </p:cNvSpPr>
          <p:nvPr>
            <p:ph idx="1"/>
          </p:nvPr>
        </p:nvSpPr>
        <p:spPr>
          <a:xfrm>
            <a:off x="685800" y="2194560"/>
            <a:ext cx="10820400" cy="4470191"/>
          </a:xfrm>
        </p:spPr>
        <p:txBody>
          <a:bodyPr/>
          <a:lstStyle/>
          <a:p>
            <a:r>
              <a:rPr lang="fr-FR" dirty="0"/>
              <a:t>Pour les perspectives d’amélioration du Chatbot, nous avons énumérer un ensemble de point:</a:t>
            </a:r>
          </a:p>
          <a:p>
            <a:pPr marL="0" indent="0">
              <a:buNone/>
            </a:pPr>
            <a:r>
              <a:rPr lang="fr-FR" dirty="0"/>
              <a:t>-Améliorer la compréhension des requêtes complexe</a:t>
            </a:r>
          </a:p>
          <a:p>
            <a:pPr marL="0" indent="0">
              <a:buNone/>
            </a:pPr>
            <a:r>
              <a:rPr lang="fr-FR" dirty="0"/>
              <a:t>-Ajouter une authentification</a:t>
            </a:r>
          </a:p>
          <a:p>
            <a:pPr marL="0" indent="0">
              <a:buNone/>
            </a:pPr>
            <a:r>
              <a:rPr lang="fr-FR" dirty="0"/>
              <a:t>-Renforcement de la sécurité</a:t>
            </a:r>
          </a:p>
          <a:p>
            <a:pPr marL="0" indent="0">
              <a:buNone/>
            </a:pPr>
            <a:r>
              <a:rPr lang="fr-FR" dirty="0"/>
              <a:t>-Ajouter une interface vocale</a:t>
            </a:r>
          </a:p>
          <a:p>
            <a:r>
              <a:rPr lang="fr-FR" dirty="0"/>
              <a:t>Développement Futur du chatbot, Ici nous avons un ensemble d’idée que nous souhaitons mettre en place par exemple:</a:t>
            </a:r>
          </a:p>
          <a:p>
            <a:pPr marL="0" indent="0">
              <a:buNone/>
            </a:pPr>
            <a:r>
              <a:rPr lang="fr-FR" dirty="0"/>
              <a:t>-Capacités Prédictives et Proactives </a:t>
            </a:r>
          </a:p>
          <a:p>
            <a:pPr marL="0" indent="0">
              <a:buNone/>
            </a:pPr>
            <a:r>
              <a:rPr lang="fr-FR" dirty="0"/>
              <a:t>-Intégration Ecosystème Bancaire et Open Banking</a:t>
            </a:r>
          </a:p>
          <a:p>
            <a:pPr marL="0" indent="0">
              <a:buNone/>
            </a:pPr>
            <a:endParaRPr lang="fr-FR" dirty="0"/>
          </a:p>
        </p:txBody>
      </p:sp>
      <p:sp>
        <p:nvSpPr>
          <p:cNvPr id="4" name="Espace réservé du numéro de diapositive 3">
            <a:extLst>
              <a:ext uri="{FF2B5EF4-FFF2-40B4-BE49-F238E27FC236}">
                <a16:creationId xmlns:a16="http://schemas.microsoft.com/office/drawing/2014/main" id="{66F9B778-B451-10FA-AF77-FA856FF038BF}"/>
              </a:ext>
            </a:extLst>
          </p:cNvPr>
          <p:cNvSpPr>
            <a:spLocks noGrp="1"/>
          </p:cNvSpPr>
          <p:nvPr>
            <p:ph type="sldNum" sz="quarter" idx="12"/>
          </p:nvPr>
        </p:nvSpPr>
        <p:spPr/>
        <p:txBody>
          <a:bodyPr/>
          <a:lstStyle/>
          <a:p>
            <a:fld id="{6D22F896-40B5-4ADD-8801-0D06FADFA095}" type="slidenum">
              <a:rPr lang="en-US" smtClean="0"/>
              <a:t>9</a:t>
            </a:fld>
            <a:endParaRPr lang="en-US" dirty="0"/>
          </a:p>
        </p:txBody>
      </p:sp>
    </p:spTree>
    <p:extLst>
      <p:ext uri="{BB962C8B-B14F-4D97-AF65-F5344CB8AC3E}">
        <p14:creationId xmlns:p14="http://schemas.microsoft.com/office/powerpoint/2010/main" val="1576768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226938-F8B2-8B9D-D8AE-12224D3A52E5}"/>
              </a:ext>
            </a:extLst>
          </p:cNvPr>
          <p:cNvSpPr>
            <a:spLocks noGrp="1"/>
          </p:cNvSpPr>
          <p:nvPr>
            <p:ph type="title"/>
          </p:nvPr>
        </p:nvSpPr>
        <p:spPr>
          <a:xfrm>
            <a:off x="603315" y="764373"/>
            <a:ext cx="10902885" cy="1293028"/>
          </a:xfrm>
        </p:spPr>
        <p:txBody>
          <a:bodyPr/>
          <a:lstStyle/>
          <a:p>
            <a:pPr algn="ctr"/>
            <a:r>
              <a:rPr lang="fr-FR" dirty="0"/>
              <a:t>CONCLUSION</a:t>
            </a:r>
          </a:p>
        </p:txBody>
      </p:sp>
      <p:sp>
        <p:nvSpPr>
          <p:cNvPr id="3" name="Espace réservé du contenu 2">
            <a:extLst>
              <a:ext uri="{FF2B5EF4-FFF2-40B4-BE49-F238E27FC236}">
                <a16:creationId xmlns:a16="http://schemas.microsoft.com/office/drawing/2014/main" id="{37A9062D-6C93-DD81-AD9D-1E971C85A43B}"/>
              </a:ext>
            </a:extLst>
          </p:cNvPr>
          <p:cNvSpPr>
            <a:spLocks noGrp="1"/>
          </p:cNvSpPr>
          <p:nvPr>
            <p:ph idx="1"/>
          </p:nvPr>
        </p:nvSpPr>
        <p:spPr/>
        <p:txBody>
          <a:bodyPr/>
          <a:lstStyle/>
          <a:p>
            <a:pPr marL="0" indent="0">
              <a:buNone/>
            </a:pPr>
            <a:endParaRPr lang="fr-FR" dirty="0"/>
          </a:p>
          <a:p>
            <a:pPr marL="0" indent="0">
              <a:buNone/>
            </a:pPr>
            <a:endParaRPr lang="fr-FR" dirty="0"/>
          </a:p>
          <a:p>
            <a:pPr marL="0" indent="0">
              <a:buNone/>
            </a:pPr>
            <a:r>
              <a:rPr lang="fr-FR" dirty="0"/>
              <a:t>Nous avons réussi à créer un Chatbot fonctionnel capable de répondre aux besoins des clients des banques en les offrants des informations, de l’assistance également dont ils ont parfois besoins instantanément sans pourtant être contraint de se rendre à l’agence. Ce projet a permis de mettre en pratique nos compétences en analyse de données, développement Backend &amp; Frontend mais aussi en traitement de langage naturel</a:t>
            </a:r>
          </a:p>
        </p:txBody>
      </p:sp>
      <p:sp>
        <p:nvSpPr>
          <p:cNvPr id="4" name="Espace réservé du numéro de diapositive 3">
            <a:extLst>
              <a:ext uri="{FF2B5EF4-FFF2-40B4-BE49-F238E27FC236}">
                <a16:creationId xmlns:a16="http://schemas.microsoft.com/office/drawing/2014/main" id="{8D7E8DB7-8C3D-8BB2-4851-B18FE1052D9C}"/>
              </a:ext>
            </a:extLst>
          </p:cNvPr>
          <p:cNvSpPr>
            <a:spLocks noGrp="1"/>
          </p:cNvSpPr>
          <p:nvPr>
            <p:ph type="sldNum" sz="quarter" idx="12"/>
          </p:nvPr>
        </p:nvSpPr>
        <p:spPr/>
        <p:txBody>
          <a:bodyPr/>
          <a:lstStyle/>
          <a:p>
            <a:fld id="{6D22F896-40B5-4ADD-8801-0D06FADFA095}" type="slidenum">
              <a:rPr lang="en-US" smtClean="0"/>
              <a:t>10</a:t>
            </a:fld>
            <a:endParaRPr lang="en-US" dirty="0"/>
          </a:p>
        </p:txBody>
      </p:sp>
    </p:spTree>
    <p:extLst>
      <p:ext uri="{BB962C8B-B14F-4D97-AF65-F5344CB8AC3E}">
        <p14:creationId xmlns:p14="http://schemas.microsoft.com/office/powerpoint/2010/main" val="3552683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D90D563C-76D9-F52F-7A74-FD999E42C76D}"/>
              </a:ext>
            </a:extLst>
          </p:cNvPr>
          <p:cNvSpPr>
            <a:spLocks noGrp="1"/>
          </p:cNvSpPr>
          <p:nvPr>
            <p:ph type="ctrTitle"/>
          </p:nvPr>
        </p:nvSpPr>
        <p:spPr/>
        <p:txBody>
          <a:bodyPr>
            <a:normAutofit/>
          </a:bodyPr>
          <a:lstStyle/>
          <a:p>
            <a:r>
              <a:rPr lang="fr-FR" sz="3600" dirty="0"/>
              <a:t>MERCI POUR </a:t>
            </a:r>
            <a:r>
              <a:rPr lang="fr-FR" sz="3600" dirty="0">
                <a:latin typeface="+mn-lt"/>
              </a:rPr>
              <a:t>VOTRE</a:t>
            </a:r>
            <a:r>
              <a:rPr lang="fr-FR" sz="3600" dirty="0"/>
              <a:t> AIMABLE ATTENTION</a:t>
            </a:r>
          </a:p>
        </p:txBody>
      </p:sp>
      <p:sp>
        <p:nvSpPr>
          <p:cNvPr id="7" name="Espace réservé du numéro de diapositive 6">
            <a:extLst>
              <a:ext uri="{FF2B5EF4-FFF2-40B4-BE49-F238E27FC236}">
                <a16:creationId xmlns:a16="http://schemas.microsoft.com/office/drawing/2014/main" id="{25F7995D-23F4-F7B8-D305-C240C88B82CA}"/>
              </a:ext>
            </a:extLst>
          </p:cNvPr>
          <p:cNvSpPr>
            <a:spLocks noGrp="1"/>
          </p:cNvSpPr>
          <p:nvPr>
            <p:ph type="sldNum" sz="quarter" idx="12"/>
          </p:nvPr>
        </p:nvSpPr>
        <p:spPr/>
        <p:txBody>
          <a:bodyPr/>
          <a:lstStyle/>
          <a:p>
            <a:fld id="{6D22F896-40B5-4ADD-8801-0D06FADFA095}" type="slidenum">
              <a:rPr lang="en-US" smtClean="0"/>
              <a:t>11</a:t>
            </a:fld>
            <a:endParaRPr lang="en-US" dirty="0"/>
          </a:p>
        </p:txBody>
      </p:sp>
    </p:spTree>
    <p:extLst>
      <p:ext uri="{BB962C8B-B14F-4D97-AF65-F5344CB8AC3E}">
        <p14:creationId xmlns:p14="http://schemas.microsoft.com/office/powerpoint/2010/main" val="455852974"/>
      </p:ext>
    </p:extLst>
  </p:cSld>
  <p:clrMapOvr>
    <a:masterClrMapping/>
  </p:clrMapOvr>
</p:sld>
</file>

<file path=ppt/theme/theme1.xml><?xml version="1.0" encoding="utf-8"?>
<a:theme xmlns:a="http://schemas.openxmlformats.org/drawingml/2006/main" name="Traînée de condensation">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{12FD35D5-EAE3-4C2D-BE99-3E6BCC760F46}TF49310879-45c6-4d72-870a-c20bc0dca332625daa2d-d29620305607</Template>
  <TotalTime>164</TotalTime>
  <Words>460</Words>
  <Application>Microsoft Office PowerPoint</Application>
  <PresentationFormat>Grand écran</PresentationFormat>
  <Paragraphs>64</Paragraphs>
  <Slides>11</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11</vt:i4>
      </vt:variant>
    </vt:vector>
  </HeadingPairs>
  <TitlesOfParts>
    <vt:vector size="15" baseType="lpstr">
      <vt:lpstr>Arial</vt:lpstr>
      <vt:lpstr>Calibri</vt:lpstr>
      <vt:lpstr>Century Gothic</vt:lpstr>
      <vt:lpstr>Traînée de condensation</vt:lpstr>
      <vt:lpstr>CHATBOT DE SUPPORT CLIENT POUR LES SERVICES BANCAIRE</vt:lpstr>
      <vt:lpstr>INTRODUCTION</vt:lpstr>
      <vt:lpstr>Présentation de mon chatbot </vt:lpstr>
      <vt:lpstr>CHOIX Méthodologiques</vt:lpstr>
      <vt:lpstr>Présentation page d’accueil</vt:lpstr>
      <vt:lpstr>Quelques discussions avec le chatbot</vt:lpstr>
      <vt:lpstr>PRESENTATION DE LA BASE DE DONNEES POSTGRESQL</vt:lpstr>
      <vt:lpstr>RESULTATS</vt:lpstr>
      <vt:lpstr>Perspectives et développement futur</vt:lpstr>
      <vt:lpstr>CONCLUSION</vt:lpstr>
      <vt:lpstr>MERCI POUR VOTRE AIMABLE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Loukmane Savage</dc:creator>
  <cp:lastModifiedBy>Loukmane Savage</cp:lastModifiedBy>
  <cp:revision>1</cp:revision>
  <dcterms:created xsi:type="dcterms:W3CDTF">2025-12-01T10:19:09Z</dcterms:created>
  <dcterms:modified xsi:type="dcterms:W3CDTF">2025-12-01T13:03:11Z</dcterms:modified>
</cp:coreProperties>
</file>